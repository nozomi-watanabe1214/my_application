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8" r:id="rId1"/>
  </p:sld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ja-JP" altLang="en-US"/>
              <a:t>マスター タイトルの書式設定</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368836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kumimoji="1" lang="ja-JP" altLang="en-US"/>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8DC4806F-8A57-40BE-A78D-79608F060769}" type="datetimeFigureOut">
              <a:rPr kumimoji="1" lang="ja-JP" altLang="en-US" smtClean="0"/>
              <a:t>2026/10/15</a:t>
            </a:fld>
            <a:endParaRPr kumimoji="1" lang="ja-JP" alt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0761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ja-JP" altLang="en-US"/>
              <a:t>マスター タイトルの書式設定</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ja-JP" altLang="en-US"/>
              <a:t>マスター サブタイトルの書式設定</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kumimoji="1" lang="ja-JP" alt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66288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ja-JP" altLang="en-US"/>
              <a:t>マスター タイトルの書式設定</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83570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セクション見出し">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3887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ja-JP" altLang="en-US"/>
              <a:t>マスター タイトルの書式設定</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8DC4806F-8A57-40BE-A78D-79608F060769}" type="datetimeFigureOut">
              <a:rPr kumimoji="1" lang="ja-JP" altLang="en-US" smtClean="0"/>
              <a:t>2026/10/15</a:t>
            </a:fld>
            <a:endParaRPr kumimoji="1" lang="ja-JP" alt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808773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ja-JP" altLang="en-US"/>
              <a:t>マスター タイトルの書式設定</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89348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ja-JP" altLang="en-US"/>
              <a:t>マスター タイトルの書式設定</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8DC4806F-8A57-40BE-A78D-79608F060769}" type="datetimeFigureOut">
              <a:rPr kumimoji="1" lang="ja-JP" altLang="en-US" smtClean="0"/>
              <a:t>2026/10/15</a:t>
            </a:fld>
            <a:endParaRPr kumimoji="1" lang="ja-JP" alt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15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ja-JP" altLang="en-US"/>
              <a:t>マスター タイトルの書式設定</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8DC4806F-8A57-40BE-A78D-79608F060769}" type="datetimeFigureOut">
              <a:rPr kumimoji="1" lang="ja-JP" altLang="en-US" smtClean="0"/>
              <a:t>2026/10/15</a:t>
            </a:fld>
            <a:endParaRPr kumimoji="1" lang="ja-JP" alt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5516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ja-JP" altLang="en-US"/>
              <a:t>マスター タイトルの書式設定</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1159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kumimoji="1" lang="ja-JP" altLang="en-US"/>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8DC4806F-8A57-40BE-A78D-79608F060769}" type="datetimeFigureOut">
              <a:rPr kumimoji="1" lang="ja-JP" altLang="en-US" smtClean="0"/>
              <a:t>2026/10/15</a:t>
            </a:fld>
            <a:endParaRPr kumimoji="1" lang="ja-JP" alt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2701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kumimoji="1" lang="ja-JP" altLang="en-US"/>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8DC4806F-8A57-40BE-A78D-79608F060769}" type="datetimeFigureOut">
              <a:rPr kumimoji="1" lang="ja-JP" altLang="en-US" smtClean="0"/>
              <a:t>2026/10/15</a:t>
            </a:fld>
            <a:endParaRPr kumimoji="1" lang="ja-JP" alt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2511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5414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0769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ja-JP" altLang="en-US"/>
              <a:t>マスター タイトルの書式設定</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kumimoji="1" lang="ja-JP" altLang="en-US"/>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8DC4806F-8A57-40BE-A78D-79608F060769}" type="datetimeFigureOut">
              <a:rPr kumimoji="1" lang="ja-JP" altLang="en-US" smtClean="0"/>
              <a:t>2026/10/15</a:t>
            </a:fld>
            <a:endParaRPr kumimoji="1" lang="ja-JP" alt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6833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ja-JP" altLang="en-US"/>
              <a:t>マスター タイトルの書式設定</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3978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ja-JP" altLang="en-US"/>
              <a:t>マスター タイトルの書式設定</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kumimoji="1" lang="ja-JP" altLang="en-US"/>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8DC4806F-8A57-40BE-A78D-79608F060769}" type="datetimeFigureOut">
              <a:rPr kumimoji="1" lang="ja-JP" altLang="en-US" smtClean="0"/>
              <a:t>2026/10/15</a:t>
            </a:fld>
            <a:endParaRPr kumimoji="1" lang="ja-JP" alt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3A65ADB7-264D-4521-B389-CB8384128B9B}" type="slidenum">
              <a:rPr kumimoji="1" lang="ja-JP" altLang="en-US" smtClean="0"/>
              <a:t>‹#›</a:t>
            </a:fld>
            <a:endParaRPr kumimoji="1" lang="ja-JP" alt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86450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3A65ADB7-264D-4521-B389-CB8384128B9B}" type="slidenum">
              <a:rPr kumimoji="1" lang="ja-JP" altLang="en-US" smtClean="0"/>
              <a:t>‹#›</a:t>
            </a:fld>
            <a:endParaRPr kumimoji="1" lang="ja-JP" alt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31875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887746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ja-JP" altLang="en-US"/>
              <a:t>マスター タイトルの書式設定</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kumimoji="1" lang="ja-JP" alt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8DC4806F-8A57-40BE-A78D-79608F060769}" type="datetimeFigureOut">
              <a:rPr kumimoji="1" lang="ja-JP" altLang="en-US" smtClean="0"/>
              <a:t>2026/10/15</a:t>
            </a:fld>
            <a:endParaRPr kumimoji="1" lang="ja-JP" alt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3A65ADB7-264D-4521-B389-CB8384128B9B}" type="slidenum">
              <a:rPr kumimoji="1" lang="ja-JP" altLang="en-US" smtClean="0"/>
              <a:t>‹#›</a:t>
            </a:fld>
            <a:endParaRPr kumimoji="1" lang="ja-JP" alt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103437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543887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kumimoji="1" lang="ja-JP" altLang="en-US"/>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8DC4806F-8A57-40BE-A78D-79608F060769}" type="datetimeFigureOut">
              <a:rPr kumimoji="1" lang="ja-JP" altLang="en-US" smtClean="0"/>
              <a:t>2026/10/15</a:t>
            </a:fld>
            <a:endParaRPr kumimoji="1" lang="ja-JP" alt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83821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kumimoji="1" lang="ja-JP" altLang="en-US"/>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8DC4806F-8A57-40BE-A78D-79608F060769}" type="datetimeFigureOut">
              <a:rPr kumimoji="1" lang="ja-JP" altLang="en-US" smtClean="0"/>
              <a:t>2026/10/15</a:t>
            </a:fld>
            <a:endParaRPr kumimoji="1" lang="ja-JP" alt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3714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kumimoji="1" lang="ja-JP" altLang="en-US"/>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8DC4806F-8A57-40BE-A78D-79608F060769}" type="datetimeFigureOut">
              <a:rPr kumimoji="1" lang="ja-JP" altLang="en-US" smtClean="0"/>
              <a:t>2026/10/15</a:t>
            </a:fld>
            <a:endParaRPr kumimoji="1" lang="ja-JP" alt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Tree>
    <p:extLst>
      <p:ext uri="{BB962C8B-B14F-4D97-AF65-F5344CB8AC3E}">
        <p14:creationId xmlns:p14="http://schemas.microsoft.com/office/powerpoint/2010/main" val="25716137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kumimoji="1" lang="ja-JP" altLang="en-US"/>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8DC4806F-8A57-40BE-A78D-79608F060769}" type="datetimeFigureOut">
              <a:rPr kumimoji="1" lang="ja-JP" altLang="en-US" smtClean="0"/>
              <a:t>2026/10/15</a:t>
            </a:fld>
            <a:endParaRPr kumimoji="1" lang="ja-JP" alt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Tree>
    <p:extLst>
      <p:ext uri="{BB962C8B-B14F-4D97-AF65-F5344CB8AC3E}">
        <p14:creationId xmlns:p14="http://schemas.microsoft.com/office/powerpoint/2010/main" val="37799229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110271511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673072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8DC4806F-8A57-40BE-A78D-79608F060769}" type="datetimeFigureOut">
              <a:rPr kumimoji="1" lang="ja-JP" altLang="en-US" smtClean="0"/>
              <a:t>2026/10/15</a:t>
            </a:fld>
            <a:endParaRPr kumimoji="1" lang="ja-JP" alt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3A65ADB7-264D-4521-B389-CB8384128B9B}" type="slidenum">
              <a:rPr kumimoji="1" lang="ja-JP" altLang="en-US" smtClean="0"/>
              <a:t>‹#›</a:t>
            </a:fld>
            <a:endParaRPr kumimoji="1" lang="ja-JP" altLang="en-US"/>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1306199191"/>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 id="2147483913" r:id="rId15"/>
    <p:sldLayoutId id="2147483914" r:id="rId16"/>
    <p:sldLayoutId id="2147483915" r:id="rId17"/>
    <p:sldLayoutId id="2147483916" r:id="rId18"/>
    <p:sldLayoutId id="2147483917" r:id="rId19"/>
    <p:sldLayoutId id="2147483918" r:id="rId20"/>
    <p:sldLayoutId id="2147483919" r:id="rId21"/>
    <p:sldLayoutId id="2147483920" r:id="rId22"/>
    <p:sldLayoutId id="2147483921" r:id="rId23"/>
    <p:sldLayoutId id="2147483922" r:id="rId24"/>
    <p:sldLayoutId id="2147483923" r:id="rId25"/>
    <p:sldLayoutId id="2147483924" r:id="rId26"/>
    <p:sldLayoutId id="2147483925" r:id="rId27"/>
  </p:sldLayoutIdLst>
  <p:txStyles>
    <p:titleStyle>
      <a:lvl1pPr algn="l" defTabSz="914400" rtl="0" eaLnBrk="1" latinLnBrk="0" hangingPunct="1">
        <a:lnSpc>
          <a:spcPct val="70000"/>
        </a:lnSpc>
        <a:spcBef>
          <a:spcPct val="0"/>
        </a:spcBef>
        <a:buNone/>
        <a:defRPr kumimoji="1"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kumimoji="1"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BA34DA-67E3-DC1A-4BE9-71F6EA5EC27A}"/>
              </a:ext>
            </a:extLst>
          </p:cNvPr>
          <p:cNvSpPr/>
          <p:nvPr/>
        </p:nvSpPr>
        <p:spPr>
          <a:xfrm>
            <a:off x="945221" y="842481"/>
            <a:ext cx="10243335" cy="39247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タスク管理システム</a:t>
            </a:r>
            <a:r>
              <a:rPr kumimoji="1" lang="ja-JP" altLang="en-US" sz="32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とは</a:t>
            </a:r>
            <a:endParaRPr kumimoji="1" lang="ja-JP" altLang="en-US" sz="8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286022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020DB963-6858-97AE-556A-767E981E7450}"/>
              </a:ext>
            </a:extLst>
          </p:cNvPr>
          <p:cNvSpPr/>
          <p:nvPr/>
        </p:nvSpPr>
        <p:spPr>
          <a:xfrm>
            <a:off x="328773" y="154112"/>
            <a:ext cx="8311793" cy="9760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3600" dirty="0">
                <a:solidFill>
                  <a:srgbClr val="00B0F0"/>
                </a:solidFill>
                <a:latin typeface="HGP創英角ﾎﾟｯﾌﾟ体" panose="040B0A00000000000000" pitchFamily="50" charset="-128"/>
                <a:ea typeface="HGP創英角ﾎﾟｯﾌﾟ体" panose="040B0A00000000000000" pitchFamily="50" charset="-128"/>
              </a:rPr>
              <a:t>①社員登録をする（管理者・上長）</a:t>
            </a:r>
          </a:p>
        </p:txBody>
      </p:sp>
      <p:grpSp>
        <p:nvGrpSpPr>
          <p:cNvPr id="11" name="グループ化 10">
            <a:extLst>
              <a:ext uri="{FF2B5EF4-FFF2-40B4-BE49-F238E27FC236}">
                <a16:creationId xmlns:a16="http://schemas.microsoft.com/office/drawing/2014/main" id="{77F7FD42-5484-C49C-B8DA-240D1E983FCC}"/>
              </a:ext>
            </a:extLst>
          </p:cNvPr>
          <p:cNvGrpSpPr/>
          <p:nvPr/>
        </p:nvGrpSpPr>
        <p:grpSpPr>
          <a:xfrm>
            <a:off x="2126750" y="1231863"/>
            <a:ext cx="8363164" cy="5279485"/>
            <a:chOff x="2126750" y="1231863"/>
            <a:chExt cx="8363164" cy="5279485"/>
          </a:xfrm>
        </p:grpSpPr>
        <p:pic>
          <p:nvPicPr>
            <p:cNvPr id="3" name="図 2">
              <a:extLst>
                <a:ext uri="{FF2B5EF4-FFF2-40B4-BE49-F238E27FC236}">
                  <a16:creationId xmlns:a16="http://schemas.microsoft.com/office/drawing/2014/main" id="{D52F2421-C6EB-2844-E153-D578FDB696E8}"/>
                </a:ext>
              </a:extLst>
            </p:cNvPr>
            <p:cNvPicPr>
              <a:picLocks noChangeAspect="1"/>
            </p:cNvPicPr>
            <p:nvPr/>
          </p:nvPicPr>
          <p:blipFill>
            <a:blip r:embed="rId2"/>
            <a:stretch>
              <a:fillRect/>
            </a:stretch>
          </p:blipFill>
          <p:spPr>
            <a:xfrm>
              <a:off x="2126750" y="1231863"/>
              <a:ext cx="8363164" cy="5279485"/>
            </a:xfrm>
            <a:prstGeom prst="rect">
              <a:avLst/>
            </a:prstGeom>
          </p:spPr>
        </p:pic>
        <p:sp>
          <p:nvSpPr>
            <p:cNvPr id="10" name="正方形/長方形 9">
              <a:extLst>
                <a:ext uri="{FF2B5EF4-FFF2-40B4-BE49-F238E27FC236}">
                  <a16:creationId xmlns:a16="http://schemas.microsoft.com/office/drawing/2014/main" id="{CAE17259-0111-9781-AB81-8E250429051F}"/>
                </a:ext>
              </a:extLst>
            </p:cNvPr>
            <p:cNvSpPr/>
            <p:nvPr/>
          </p:nvSpPr>
          <p:spPr>
            <a:xfrm>
              <a:off x="8568647" y="2260315"/>
              <a:ext cx="1664414" cy="252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390302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DEB8D-76BB-DF74-221E-6471A6751F9F}"/>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F1D6DCE1-D6CC-37C0-3161-1D6019A168D9}"/>
              </a:ext>
            </a:extLst>
          </p:cNvPr>
          <p:cNvSpPr/>
          <p:nvPr/>
        </p:nvSpPr>
        <p:spPr>
          <a:xfrm>
            <a:off x="328773" y="154112"/>
            <a:ext cx="8311793" cy="9760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3600" dirty="0">
                <a:solidFill>
                  <a:srgbClr val="00B0F0"/>
                </a:solidFill>
                <a:latin typeface="HGP創英角ﾎﾟｯﾌﾟ体" panose="040B0A00000000000000" pitchFamily="50" charset="-128"/>
                <a:ea typeface="HGP創英角ﾎﾟｯﾌﾟ体" panose="040B0A00000000000000" pitchFamily="50" charset="-128"/>
              </a:rPr>
              <a:t>②タスクの登録をする（全社員対象）</a:t>
            </a:r>
          </a:p>
        </p:txBody>
      </p:sp>
      <p:grpSp>
        <p:nvGrpSpPr>
          <p:cNvPr id="19" name="グループ化 18">
            <a:extLst>
              <a:ext uri="{FF2B5EF4-FFF2-40B4-BE49-F238E27FC236}">
                <a16:creationId xmlns:a16="http://schemas.microsoft.com/office/drawing/2014/main" id="{73C00760-5EF6-148D-122A-3FE820E75315}"/>
              </a:ext>
            </a:extLst>
          </p:cNvPr>
          <p:cNvGrpSpPr/>
          <p:nvPr/>
        </p:nvGrpSpPr>
        <p:grpSpPr>
          <a:xfrm>
            <a:off x="729465" y="1100503"/>
            <a:ext cx="11096090" cy="5546877"/>
            <a:chOff x="729465" y="1100503"/>
            <a:chExt cx="11096090" cy="5546877"/>
          </a:xfrm>
        </p:grpSpPr>
        <p:grpSp>
          <p:nvGrpSpPr>
            <p:cNvPr id="9" name="グループ化 8">
              <a:extLst>
                <a:ext uri="{FF2B5EF4-FFF2-40B4-BE49-F238E27FC236}">
                  <a16:creationId xmlns:a16="http://schemas.microsoft.com/office/drawing/2014/main" id="{2C2F917E-7E13-2EA1-66CE-87A469444018}"/>
                </a:ext>
              </a:extLst>
            </p:cNvPr>
            <p:cNvGrpSpPr/>
            <p:nvPr/>
          </p:nvGrpSpPr>
          <p:grpSpPr>
            <a:xfrm>
              <a:off x="729465" y="1100503"/>
              <a:ext cx="11096090" cy="5546877"/>
              <a:chOff x="729465" y="1100503"/>
              <a:chExt cx="11096090" cy="5546877"/>
            </a:xfrm>
          </p:grpSpPr>
          <p:pic>
            <p:nvPicPr>
              <p:cNvPr id="4" name="図 3">
                <a:extLst>
                  <a:ext uri="{FF2B5EF4-FFF2-40B4-BE49-F238E27FC236}">
                    <a16:creationId xmlns:a16="http://schemas.microsoft.com/office/drawing/2014/main" id="{4610A557-8FC7-1CF5-96D7-215C29CCA787}"/>
                  </a:ext>
                </a:extLst>
              </p:cNvPr>
              <p:cNvPicPr>
                <a:picLocks noChangeAspect="1"/>
              </p:cNvPicPr>
              <p:nvPr/>
            </p:nvPicPr>
            <p:blipFill>
              <a:blip r:embed="rId2"/>
              <a:stretch>
                <a:fillRect/>
              </a:stretch>
            </p:blipFill>
            <p:spPr>
              <a:xfrm>
                <a:off x="729465" y="1100503"/>
                <a:ext cx="8620018" cy="5546877"/>
              </a:xfrm>
              <a:prstGeom prst="rect">
                <a:avLst/>
              </a:prstGeom>
            </p:spPr>
          </p:pic>
          <p:sp>
            <p:nvSpPr>
              <p:cNvPr id="7" name="吹き出し: 角を丸めた四角形 6">
                <a:extLst>
                  <a:ext uri="{FF2B5EF4-FFF2-40B4-BE49-F238E27FC236}">
                    <a16:creationId xmlns:a16="http://schemas.microsoft.com/office/drawing/2014/main" id="{AD3E790E-5A2B-DA0F-3BB1-D1061BB181D8}"/>
                  </a:ext>
                </a:extLst>
              </p:cNvPr>
              <p:cNvSpPr/>
              <p:nvPr/>
            </p:nvSpPr>
            <p:spPr>
              <a:xfrm>
                <a:off x="7356296" y="2866490"/>
                <a:ext cx="4469259" cy="2342508"/>
              </a:xfrm>
              <a:prstGeom prst="wedgeRoundRectCallout">
                <a:avLst>
                  <a:gd name="adj1" fmla="val -65661"/>
                  <a:gd name="adj2" fmla="val 31798"/>
                  <a:gd name="adj3" fmla="val 16667"/>
                </a:avLst>
              </a:prstGeom>
              <a:solidFill>
                <a:schemeClr val="bg1">
                  <a:lumMod val="95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優先度・ステータスを</a:t>
                </a:r>
                <a:endPar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endParaRPr>
              </a:p>
              <a:p>
                <a:pPr algn="ctr"/>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登録するのがポイント💡</a:t>
                </a:r>
                <a:endPar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endParaRPr>
              </a:p>
              <a:p>
                <a:pPr algn="ctr"/>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タスクの進行状況や</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pPr algn="ctr"/>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優先順位を把握できる！</a:t>
                </a:r>
              </a:p>
            </p:txBody>
          </p:sp>
          <p:sp>
            <p:nvSpPr>
              <p:cNvPr id="8" name="正方形/長方形 7">
                <a:extLst>
                  <a:ext uri="{FF2B5EF4-FFF2-40B4-BE49-F238E27FC236}">
                    <a16:creationId xmlns:a16="http://schemas.microsoft.com/office/drawing/2014/main" id="{58CDF62D-A3F5-D0C6-C405-95DA3AE26D94}"/>
                  </a:ext>
                </a:extLst>
              </p:cNvPr>
              <p:cNvSpPr/>
              <p:nvPr/>
            </p:nvSpPr>
            <p:spPr>
              <a:xfrm>
                <a:off x="8096036" y="1993187"/>
                <a:ext cx="1017142" cy="7911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正方形/長方形 1">
              <a:extLst>
                <a:ext uri="{FF2B5EF4-FFF2-40B4-BE49-F238E27FC236}">
                  <a16:creationId xmlns:a16="http://schemas.microsoft.com/office/drawing/2014/main" id="{CD0CAB93-C8B1-E903-B0D8-C2A350301D0E}"/>
                </a:ext>
              </a:extLst>
            </p:cNvPr>
            <p:cNvSpPr/>
            <p:nvPr/>
          </p:nvSpPr>
          <p:spPr>
            <a:xfrm>
              <a:off x="2938410" y="4469258"/>
              <a:ext cx="1315092" cy="1952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25849CF1-1D28-7FF6-D9B9-324F6A8EB74A}"/>
                </a:ext>
              </a:extLst>
            </p:cNvPr>
            <p:cNvSpPr/>
            <p:nvPr/>
          </p:nvSpPr>
          <p:spPr>
            <a:xfrm>
              <a:off x="2946972" y="2556552"/>
              <a:ext cx="2405864" cy="5565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E314C553-C5D4-2E69-104A-C95CD0F9A54E}"/>
                </a:ext>
              </a:extLst>
            </p:cNvPr>
            <p:cNvSpPr/>
            <p:nvPr/>
          </p:nvSpPr>
          <p:spPr>
            <a:xfrm>
              <a:off x="2946972" y="1940103"/>
              <a:ext cx="1315092" cy="1952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629346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EBD4F-744D-F20A-B671-D96691FC7400}"/>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7C6730BD-0009-21C6-01C3-B8C4A6117079}"/>
              </a:ext>
            </a:extLst>
          </p:cNvPr>
          <p:cNvSpPr/>
          <p:nvPr/>
        </p:nvSpPr>
        <p:spPr>
          <a:xfrm>
            <a:off x="5250094" y="1736333"/>
            <a:ext cx="7900827" cy="1376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sz="3200" dirty="0">
              <a:solidFill>
                <a:schemeClr val="accent1"/>
              </a:solidFill>
              <a:latin typeface="HGP創英角ﾎﾟｯﾌﾟ体" panose="040B0A00000000000000" pitchFamily="50" charset="-128"/>
              <a:ea typeface="HGP創英角ﾎﾟｯﾌﾟ体" panose="040B0A00000000000000" pitchFamily="50" charset="-128"/>
            </a:endParaRPr>
          </a:p>
        </p:txBody>
      </p:sp>
      <p:sp>
        <p:nvSpPr>
          <p:cNvPr id="4" name="正方形/長方形 3">
            <a:extLst>
              <a:ext uri="{FF2B5EF4-FFF2-40B4-BE49-F238E27FC236}">
                <a16:creationId xmlns:a16="http://schemas.microsoft.com/office/drawing/2014/main" id="{C889B781-EEBE-C0CC-0CA2-811CED7412C1}"/>
              </a:ext>
            </a:extLst>
          </p:cNvPr>
          <p:cNvSpPr/>
          <p:nvPr/>
        </p:nvSpPr>
        <p:spPr>
          <a:xfrm>
            <a:off x="1746606" y="4530903"/>
            <a:ext cx="410966" cy="15103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 name="グループ化 7">
            <a:extLst>
              <a:ext uri="{FF2B5EF4-FFF2-40B4-BE49-F238E27FC236}">
                <a16:creationId xmlns:a16="http://schemas.microsoft.com/office/drawing/2014/main" id="{ED596A77-3EC6-81D9-9627-F623E279AA32}"/>
              </a:ext>
            </a:extLst>
          </p:cNvPr>
          <p:cNvGrpSpPr/>
          <p:nvPr/>
        </p:nvGrpSpPr>
        <p:grpSpPr>
          <a:xfrm>
            <a:off x="821933" y="1119883"/>
            <a:ext cx="11178284" cy="5435028"/>
            <a:chOff x="821933" y="1058238"/>
            <a:chExt cx="11178284" cy="5496674"/>
          </a:xfrm>
        </p:grpSpPr>
        <p:pic>
          <p:nvPicPr>
            <p:cNvPr id="3" name="図 2">
              <a:extLst>
                <a:ext uri="{FF2B5EF4-FFF2-40B4-BE49-F238E27FC236}">
                  <a16:creationId xmlns:a16="http://schemas.microsoft.com/office/drawing/2014/main" id="{3031E1F2-1CBE-FE27-F0D2-59A3A20DD909}"/>
                </a:ext>
              </a:extLst>
            </p:cNvPr>
            <p:cNvPicPr>
              <a:picLocks noChangeAspect="1"/>
            </p:cNvPicPr>
            <p:nvPr/>
          </p:nvPicPr>
          <p:blipFill>
            <a:blip r:embed="rId2"/>
            <a:stretch>
              <a:fillRect/>
            </a:stretch>
          </p:blipFill>
          <p:spPr>
            <a:xfrm>
              <a:off x="821933" y="1058238"/>
              <a:ext cx="8416626" cy="5496674"/>
            </a:xfrm>
            <a:prstGeom prst="rect">
              <a:avLst/>
            </a:prstGeom>
          </p:spPr>
        </p:pic>
        <p:sp>
          <p:nvSpPr>
            <p:cNvPr id="6" name="吹き出し: 角を丸めた四角形 5">
              <a:extLst>
                <a:ext uri="{FF2B5EF4-FFF2-40B4-BE49-F238E27FC236}">
                  <a16:creationId xmlns:a16="http://schemas.microsoft.com/office/drawing/2014/main" id="{684EF52D-72E3-7881-64AB-3DBF496F4F81}"/>
                </a:ext>
              </a:extLst>
            </p:cNvPr>
            <p:cNvSpPr/>
            <p:nvPr/>
          </p:nvSpPr>
          <p:spPr>
            <a:xfrm>
              <a:off x="7808361" y="2661007"/>
              <a:ext cx="4191856" cy="3530232"/>
            </a:xfrm>
            <a:prstGeom prst="wedgeRoundRectCallout">
              <a:avLst>
                <a:gd name="adj1" fmla="val -82915"/>
                <a:gd name="adj2" fmla="val -39411"/>
                <a:gd name="adj3" fmla="val 16667"/>
              </a:avLst>
            </a:prstGeom>
            <a:solidFill>
              <a:schemeClr val="bg1">
                <a:lumMod val="95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名前の検索欄は</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管理者権限付きの上長のみにして部下のタスクの状態を見れるように💡</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endParaRPr kumimoji="1" lang="en-US" altLang="ja-JP" sz="200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en-US" altLang="ja-JP" sz="2000" dirty="0">
                  <a:solidFill>
                    <a:schemeClr val="tx1"/>
                  </a:solidFill>
                  <a:latin typeface="HGP創英角ﾎﾟｯﾌﾟ体" panose="040B0A00000000000000" pitchFamily="50" charset="-128"/>
                  <a:ea typeface="HGP創英角ﾎﾟｯﾌﾟ体" panose="040B0A00000000000000" pitchFamily="50" charset="-128"/>
                </a:rPr>
                <a:t>※</a:t>
              </a:r>
              <a:r>
                <a:rPr kumimoji="1" lang="ja-JP" altLang="en-US" sz="2000" dirty="0">
                  <a:solidFill>
                    <a:schemeClr val="tx1"/>
                  </a:solidFill>
                  <a:latin typeface="HGP創英角ﾎﾟｯﾌﾟ体" panose="040B0A00000000000000" pitchFamily="50" charset="-128"/>
                  <a:ea typeface="HGP創英角ﾎﾟｯﾌﾟ体" panose="040B0A00000000000000" pitchFamily="50" charset="-128"/>
                </a:rPr>
                <a:t>一般社員は自身ののみ。</a:t>
              </a:r>
            </a:p>
          </p:txBody>
        </p:sp>
        <p:sp>
          <p:nvSpPr>
            <p:cNvPr id="7" name="正方形/長方形 6">
              <a:extLst>
                <a:ext uri="{FF2B5EF4-FFF2-40B4-BE49-F238E27FC236}">
                  <a16:creationId xmlns:a16="http://schemas.microsoft.com/office/drawing/2014/main" id="{BA5C8953-28DD-2131-FFE1-F674F173FCE0}"/>
                </a:ext>
              </a:extLst>
            </p:cNvPr>
            <p:cNvSpPr/>
            <p:nvPr/>
          </p:nvSpPr>
          <p:spPr>
            <a:xfrm>
              <a:off x="5065160" y="3226085"/>
              <a:ext cx="1428107" cy="410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正方形/長方形 10">
            <a:extLst>
              <a:ext uri="{FF2B5EF4-FFF2-40B4-BE49-F238E27FC236}">
                <a16:creationId xmlns:a16="http://schemas.microsoft.com/office/drawing/2014/main" id="{B98D0354-01D3-B0B5-2672-B6C94DAB29F6}"/>
              </a:ext>
            </a:extLst>
          </p:cNvPr>
          <p:cNvSpPr/>
          <p:nvPr/>
        </p:nvSpPr>
        <p:spPr>
          <a:xfrm>
            <a:off x="328773" y="154112"/>
            <a:ext cx="8311793" cy="9760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3600" dirty="0">
                <a:solidFill>
                  <a:srgbClr val="00B0F0"/>
                </a:solidFill>
                <a:latin typeface="HGP創英角ﾎﾟｯﾌﾟ体" panose="040B0A00000000000000" pitchFamily="50" charset="-128"/>
                <a:ea typeface="HGP創英角ﾎﾟｯﾌﾟ体" panose="040B0A00000000000000" pitchFamily="50" charset="-128"/>
              </a:rPr>
              <a:t>②タスクの検索・一覧表示（全社員対象）</a:t>
            </a:r>
          </a:p>
        </p:txBody>
      </p:sp>
    </p:spTree>
    <p:extLst>
      <p:ext uri="{BB962C8B-B14F-4D97-AF65-F5344CB8AC3E}">
        <p14:creationId xmlns:p14="http://schemas.microsoft.com/office/powerpoint/2010/main" val="1782177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B3F2D-DAA9-2E1D-28F2-4CED61515E8D}"/>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0345B386-C370-7A3E-8485-2DDDD3FDB2ED}"/>
              </a:ext>
            </a:extLst>
          </p:cNvPr>
          <p:cNvSpPr/>
          <p:nvPr/>
        </p:nvSpPr>
        <p:spPr>
          <a:xfrm>
            <a:off x="5250094" y="1736333"/>
            <a:ext cx="7900827" cy="1376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sz="3200" dirty="0">
              <a:solidFill>
                <a:schemeClr val="accent1"/>
              </a:solidFill>
              <a:latin typeface="HGP創英角ﾎﾟｯﾌﾟ体" panose="040B0A00000000000000" pitchFamily="50" charset="-128"/>
              <a:ea typeface="HGP創英角ﾎﾟｯﾌﾟ体" panose="040B0A00000000000000" pitchFamily="50" charset="-128"/>
            </a:endParaRPr>
          </a:p>
        </p:txBody>
      </p:sp>
      <p:grpSp>
        <p:nvGrpSpPr>
          <p:cNvPr id="19" name="グループ化 18">
            <a:extLst>
              <a:ext uri="{FF2B5EF4-FFF2-40B4-BE49-F238E27FC236}">
                <a16:creationId xmlns:a16="http://schemas.microsoft.com/office/drawing/2014/main" id="{C905BBEF-F5C9-8DF0-5896-542245961205}"/>
              </a:ext>
            </a:extLst>
          </p:cNvPr>
          <p:cNvGrpSpPr/>
          <p:nvPr/>
        </p:nvGrpSpPr>
        <p:grpSpPr>
          <a:xfrm>
            <a:off x="718962" y="1115669"/>
            <a:ext cx="7003191" cy="5315953"/>
            <a:chOff x="718962" y="1115669"/>
            <a:chExt cx="7003191" cy="5315953"/>
          </a:xfrm>
        </p:grpSpPr>
        <p:pic>
          <p:nvPicPr>
            <p:cNvPr id="13" name="図 12">
              <a:extLst>
                <a:ext uri="{FF2B5EF4-FFF2-40B4-BE49-F238E27FC236}">
                  <a16:creationId xmlns:a16="http://schemas.microsoft.com/office/drawing/2014/main" id="{41F93D59-0CBB-4C74-A3D8-036D921A8996}"/>
                </a:ext>
              </a:extLst>
            </p:cNvPr>
            <p:cNvPicPr>
              <a:picLocks noChangeAspect="1"/>
            </p:cNvPicPr>
            <p:nvPr/>
          </p:nvPicPr>
          <p:blipFill>
            <a:blip r:embed="rId2"/>
            <a:stretch>
              <a:fillRect/>
            </a:stretch>
          </p:blipFill>
          <p:spPr>
            <a:xfrm>
              <a:off x="718962" y="1115669"/>
              <a:ext cx="7003191" cy="5315953"/>
            </a:xfrm>
            <a:prstGeom prst="rect">
              <a:avLst/>
            </a:prstGeom>
          </p:spPr>
        </p:pic>
        <p:pic>
          <p:nvPicPr>
            <p:cNvPr id="17" name="図 16">
              <a:extLst>
                <a:ext uri="{FF2B5EF4-FFF2-40B4-BE49-F238E27FC236}">
                  <a16:creationId xmlns:a16="http://schemas.microsoft.com/office/drawing/2014/main" id="{4B10C431-82AC-FB93-97DE-325661D82C4A}"/>
                </a:ext>
              </a:extLst>
            </p:cNvPr>
            <p:cNvPicPr>
              <a:picLocks noChangeAspect="1"/>
            </p:cNvPicPr>
            <p:nvPr/>
          </p:nvPicPr>
          <p:blipFill>
            <a:blip r:embed="rId3"/>
            <a:stretch>
              <a:fillRect/>
            </a:stretch>
          </p:blipFill>
          <p:spPr>
            <a:xfrm>
              <a:off x="5804479" y="3768361"/>
              <a:ext cx="1765577" cy="2622165"/>
            </a:xfrm>
            <a:prstGeom prst="rect">
              <a:avLst/>
            </a:prstGeom>
          </p:spPr>
        </p:pic>
        <p:sp>
          <p:nvSpPr>
            <p:cNvPr id="18" name="正方形/長方形 17">
              <a:extLst>
                <a:ext uri="{FF2B5EF4-FFF2-40B4-BE49-F238E27FC236}">
                  <a16:creationId xmlns:a16="http://schemas.microsoft.com/office/drawing/2014/main" id="{057BE7BD-4BC8-C755-119D-98ADACD847F4}"/>
                </a:ext>
              </a:extLst>
            </p:cNvPr>
            <p:cNvSpPr/>
            <p:nvPr/>
          </p:nvSpPr>
          <p:spPr>
            <a:xfrm>
              <a:off x="5866544" y="3462391"/>
              <a:ext cx="1458930" cy="349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F9A90C82-4D71-A616-FDDF-92876A76263E}"/>
                </a:ext>
              </a:extLst>
            </p:cNvPr>
            <p:cNvPicPr>
              <a:picLocks noChangeAspect="1"/>
            </p:cNvPicPr>
            <p:nvPr/>
          </p:nvPicPr>
          <p:blipFill>
            <a:blip r:embed="rId4"/>
            <a:stretch>
              <a:fillRect/>
            </a:stretch>
          </p:blipFill>
          <p:spPr>
            <a:xfrm>
              <a:off x="5775957" y="2114557"/>
              <a:ext cx="1859834" cy="1399205"/>
            </a:xfrm>
            <a:prstGeom prst="rect">
              <a:avLst/>
            </a:prstGeom>
          </p:spPr>
        </p:pic>
      </p:grpSp>
      <p:sp>
        <p:nvSpPr>
          <p:cNvPr id="24" name="吹き出し: 角を丸めた四角形 23">
            <a:extLst>
              <a:ext uri="{FF2B5EF4-FFF2-40B4-BE49-F238E27FC236}">
                <a16:creationId xmlns:a16="http://schemas.microsoft.com/office/drawing/2014/main" id="{39644481-822D-5C1E-FA21-8AB7994173EB}"/>
              </a:ext>
            </a:extLst>
          </p:cNvPr>
          <p:cNvSpPr/>
          <p:nvPr/>
        </p:nvSpPr>
        <p:spPr>
          <a:xfrm>
            <a:off x="7479587" y="3205538"/>
            <a:ext cx="4376791" cy="1839074"/>
          </a:xfrm>
          <a:prstGeom prst="wedgeRoundRectCallout">
            <a:avLst>
              <a:gd name="adj1" fmla="val -58675"/>
              <a:gd name="adj2" fmla="val -38987"/>
              <a:gd name="adj3" fmla="val 16667"/>
            </a:avLst>
          </a:prstGeom>
          <a:solidFill>
            <a:schemeClr val="bg1">
              <a:lumMod val="95000"/>
            </a:schemeClr>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rPr>
              <a:t>D.I.</a:t>
            </a:r>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ブログの</a:t>
            </a:r>
            <a:r>
              <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rPr>
              <a:t>TOP</a:t>
            </a:r>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ページへ</a:t>
            </a:r>
            <a:endPar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期日が当日・翌日のものを表示💡</a:t>
            </a:r>
            <a:endPar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784523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DA55D0-2D78-C3EF-A3DB-EBAE59ED953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03E5B3F9-11BD-45E2-F3A2-6C08DED9711A}"/>
              </a:ext>
            </a:extLst>
          </p:cNvPr>
          <p:cNvSpPr/>
          <p:nvPr/>
        </p:nvSpPr>
        <p:spPr>
          <a:xfrm>
            <a:off x="71919" y="174660"/>
            <a:ext cx="6739847" cy="17568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5400" dirty="0">
                <a:solidFill>
                  <a:srgbClr val="0070C0"/>
                </a:solidFill>
                <a:latin typeface="HGP創英角ﾎﾟｯﾌﾟ体" panose="040B0A00000000000000" pitchFamily="50" charset="-128"/>
                <a:ea typeface="HGP創英角ﾎﾟｯﾌﾟ体" panose="040B0A00000000000000" pitchFamily="50" charset="-128"/>
              </a:rPr>
              <a:t>タスク管理システム</a:t>
            </a:r>
            <a:r>
              <a:rPr kumimoji="1" lang="ja-JP" altLang="en-US" sz="3200" dirty="0">
                <a:solidFill>
                  <a:srgbClr val="0070C0"/>
                </a:solidFill>
                <a:latin typeface="HGP創英角ﾎﾟｯﾌﾟ体" panose="040B0A00000000000000" pitchFamily="50" charset="-128"/>
                <a:ea typeface="HGP創英角ﾎﾟｯﾌﾟ体" panose="040B0A00000000000000" pitchFamily="50" charset="-128"/>
              </a:rPr>
              <a:t>とは</a:t>
            </a:r>
            <a:endParaRPr kumimoji="1" lang="ja-JP" altLang="en-US" sz="5400" dirty="0">
              <a:solidFill>
                <a:srgbClr val="0070C0"/>
              </a:solidFill>
              <a:latin typeface="HGP創英角ﾎﾟｯﾌﾟ体" panose="040B0A00000000000000" pitchFamily="50" charset="-128"/>
              <a:ea typeface="HGP創英角ﾎﾟｯﾌﾟ体" panose="040B0A00000000000000" pitchFamily="50" charset="-128"/>
            </a:endParaRPr>
          </a:p>
        </p:txBody>
      </p:sp>
      <p:sp>
        <p:nvSpPr>
          <p:cNvPr id="3" name="正方形/長方形 2">
            <a:extLst>
              <a:ext uri="{FF2B5EF4-FFF2-40B4-BE49-F238E27FC236}">
                <a16:creationId xmlns:a16="http://schemas.microsoft.com/office/drawing/2014/main" id="{5248A6C7-5C42-97A8-0B77-9B05A9106F9D}"/>
              </a:ext>
            </a:extLst>
          </p:cNvPr>
          <p:cNvSpPr/>
          <p:nvPr/>
        </p:nvSpPr>
        <p:spPr>
          <a:xfrm>
            <a:off x="452064" y="1602769"/>
            <a:ext cx="10726220" cy="46541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bg2"/>
                </a:solidFill>
                <a:latin typeface="HGP創英角ﾎﾟｯﾌﾟ体" panose="040B0A00000000000000" pitchFamily="50" charset="-128"/>
                <a:ea typeface="HGP創英角ﾎﾟｯﾌﾟ体" panose="040B0A00000000000000" pitchFamily="50" charset="-128"/>
              </a:rPr>
              <a:t>★タスクの優先順位や進行状況が目に見てわかる</a:t>
            </a:r>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bg2"/>
                </a:solidFill>
                <a:latin typeface="HGP創英角ﾎﾟｯﾌﾟ体" panose="040B0A00000000000000" pitchFamily="50" charset="-128"/>
                <a:ea typeface="HGP創英角ﾎﾟｯﾌﾟ体" panose="040B0A00000000000000" pitchFamily="50" charset="-128"/>
              </a:rPr>
              <a:t>★上長からもタスクが見える化される</a:t>
            </a:r>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⇒各業務の優先順位を明確にして進められるようになる。</a:t>
            </a:r>
            <a:endParaRPr kumimoji="1" lang="en-US" altLang="ja-JP"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　また、個人としての管理はもちろん上長からもそれらの見える化を</a:t>
            </a:r>
            <a:endParaRPr kumimoji="1" lang="en-US" altLang="ja-JP"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　実現し、フォローアップの体制を整える。</a:t>
            </a:r>
            <a:endParaRPr kumimoji="1" lang="en-US" altLang="ja-JP"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p:txBody>
      </p:sp>
      <p:pic>
        <p:nvPicPr>
          <p:cNvPr id="6" name="図 5">
            <a:extLst>
              <a:ext uri="{FF2B5EF4-FFF2-40B4-BE49-F238E27FC236}">
                <a16:creationId xmlns:a16="http://schemas.microsoft.com/office/drawing/2014/main" id="{3C88042F-B3DC-24ED-2F70-A713ACD34DAF}"/>
              </a:ext>
            </a:extLst>
          </p:cNvPr>
          <p:cNvPicPr>
            <a:picLocks noChangeAspect="1"/>
          </p:cNvPicPr>
          <p:nvPr/>
        </p:nvPicPr>
        <p:blipFill>
          <a:blip r:embed="rId2"/>
          <a:stretch>
            <a:fillRect/>
          </a:stretch>
        </p:blipFill>
        <p:spPr>
          <a:xfrm rot="488766">
            <a:off x="8449747" y="734622"/>
            <a:ext cx="3306221" cy="3306221"/>
          </a:xfrm>
          <a:prstGeom prst="rect">
            <a:avLst/>
          </a:prstGeom>
        </p:spPr>
      </p:pic>
    </p:spTree>
    <p:extLst>
      <p:ext uri="{BB962C8B-B14F-4D97-AF65-F5344CB8AC3E}">
        <p14:creationId xmlns:p14="http://schemas.microsoft.com/office/powerpoint/2010/main" val="2823165339"/>
      </p:ext>
    </p:extLst>
  </p:cSld>
  <p:clrMapOvr>
    <a:masterClrMapping/>
  </p:clrMapOvr>
</p:sld>
</file>

<file path=ppt/theme/theme1.xml><?xml version="1.0" encoding="utf-8"?>
<a:theme xmlns:a="http://schemas.openxmlformats.org/drawingml/2006/main" name="エディトリアル">
  <a:themeElements>
    <a:clrScheme name="エディトリアル">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docProps/app.xml><?xml version="1.0" encoding="utf-8"?>
<Properties xmlns="http://schemas.openxmlformats.org/officeDocument/2006/extended-properties" xmlns:vt="http://schemas.openxmlformats.org/officeDocument/2006/docPropsVTypes">
  <Template>Editorial</Template>
  <TotalTime>164</TotalTime>
  <Words>173</Words>
  <Application>Microsoft Office PowerPoint</Application>
  <PresentationFormat>ワイド画面</PresentationFormat>
  <Paragraphs>23</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HGP創英角ﾎﾟｯﾌﾟ体</vt:lpstr>
      <vt:lpstr>Aptos</vt:lpstr>
      <vt:lpstr>Arial</vt:lpstr>
      <vt:lpstr>Haettenschweiler</vt:lpstr>
      <vt:lpstr>Trade Gothic Next Light</vt:lpstr>
      <vt:lpstr>エディトリアル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渡辺のぞみ</dc:creator>
  <cp:lastModifiedBy>渡辺のぞみ</cp:lastModifiedBy>
  <cp:revision>4</cp:revision>
  <dcterms:created xsi:type="dcterms:W3CDTF">2026-10-01T12:47:43Z</dcterms:created>
  <dcterms:modified xsi:type="dcterms:W3CDTF">2026-10-15T13:09:15Z</dcterms:modified>
</cp:coreProperties>
</file>